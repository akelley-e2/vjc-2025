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d5b1ff5-efc2-bbfc-d50b-26adb3dd53c9}">
          <p14:sldIdLst>
            <p14:sldId id="256"/>
          </p14:sldIdLst>
        </p14:section>
        <p14:section name="Approach" id="{9555d697-139c-95ec-34d2-9acf03bec4b2}">
          <p14:sldIdLst>
            <p14:sldId id="257"/>
            <p14:sldId id="258"/>
          </p14:sldIdLst>
        </p14:section>
        <p14:section name="Measures" id="{d9188cd6-c949-1d6e-ae56-7b3ab7bc34a9}">
          <p14:sldIdLst>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26280" y="1600200"/>
            <a:ext cx="4206240" cy="173736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r>
              <a:rPr lang="en-US" sz="3400" b="1" dirty="0">
                <a:solidFill>
                  <a:schemeClr val="bg1"/>
                </a:solidFill>
                <a:latin typeface="Cambria" pitchFamily="34" charset="0"/>
                <a:ea typeface="Cambria" pitchFamily="34" charset="-122"/>
                <a:cs typeface="Cambria" pitchFamily="34" charset="-120"/>
              </a:rPr>
              <a:t>Title</a:t>
            </a:r>
            <a:endParaRPr lang="en-US" sz="3400" dirty="0"/>
          </a:p>
        </p:txBody>
      </p:sp>
      <p:sp>
        <p:nvSpPr>
          <p:cNvPr id="3" name="Text 0"/>
          <p:cNvSpPr/>
          <p:nvPr>
            <p:ph idx="101" type="body" hasCustomPrompt="1"/>
          </p:nvPr>
        </p:nvSpPr>
        <p:spPr>
          <a:xfrm>
            <a:off x="4526280" y="3474720"/>
            <a:ext cx="4206240" cy="731520"/>
          </a:xfrm>
          <a:prstGeom prst="rect">
            <a:avLst/>
          </a:prstGeom>
          <a:noFill/>
          <a:ln/>
        </p:spPr>
        <p:txBody>
          <a:bodyPr wrap="square" rtlCol="0"/>
          <a:lstStyle>
            <a:lvl1pPr algn="l" indent="0" marL="0">
              <a:buNone/>
              <a:defRPr lang="en-US" sz="1500" dirty="0">
                <a:solidFill>
                  <a:schemeClr val="accent2"/>
                </a:solidFill>
              </a:defRPr>
            </a:lvl1pPr>
          </a:lstStyle>
          <a:p>
            <a:pPr algn="l" indent="0" marL="0">
              <a:buNone/>
            </a:pPr>
            <a:r>
              <a:rPr lang="en-US" sz="1500" dirty="0">
                <a:solidFill>
                  <a:schemeClr val="accent2"/>
                </a:solidFill>
              </a:rPr>
              <a:t>Subtitle</a:t>
            </a: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302752" y="4626864"/>
            <a:ext cx="384048" cy="384048"/>
          </a:xfrm>
          <a:prstGeom prst="rect">
            <a:avLst/>
          </a:prstGeom>
        </p:spPr>
      </p:pic>
      <p:sp>
        <p:nvSpPr>
          <p:cNvPr id="3" name="Text 0"/>
          <p:cNvSpPr/>
          <p:nvPr/>
        </p:nvSpPr>
        <p:spPr>
          <a:xfrm>
            <a:off x="457200" y="468172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the equality effect  ·  Prosecution Quantitative Work</a:t>
            </a:r>
            <a:endParaRPr lang="en-US" sz="1000" dirty="0"/>
          </a:p>
        </p:txBody>
      </p:sp>
      <p:sp>
        <p:nvSpPr>
          <p:cNvPr id="4" name="Text 1"/>
          <p:cNvSpPr/>
          <p:nvPr>
            <p:ph idx="102" type="title" hasCustomPrompt="1"/>
          </p:nvPr>
        </p:nvSpPr>
        <p:spPr>
          <a:xfrm>
            <a:off x="457200" y="320040"/>
            <a:ext cx="8229600" cy="68580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r>
              <a:rPr lang="en-US" sz="2800" b="1" dirty="0">
                <a:solidFill>
                  <a:schemeClr val="tx2"/>
                </a:solidFill>
                <a:latin typeface="Cambria" pitchFamily="34" charset="0"/>
                <a:ea typeface="Cambria" pitchFamily="34" charset="-122"/>
                <a:cs typeface="Cambria" pitchFamily="34" charset="-120"/>
              </a:rPr>
              <a:t>Title</a:t>
            </a:r>
            <a:endParaRPr lang="en-US" sz="2800" dirty="0"/>
          </a:p>
        </p:txBody>
      </p:sp>
      <p:sp>
        <p:nvSpPr>
          <p:cNvPr id="25" name="Slide Number Placeholder 0"/>
          <p:cNvSpPr>
            <a:spLocks noGrp="1"/>
          </p:cNvSpPr>
          <p:nvPr>
            <p:ph type="sldNum" sz="quarter" idx="4294967295"/>
          </p:nvPr>
        </p:nvSpPr>
        <p:spPr>
          <a:xfrm>
            <a:off x="772668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72668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photo" descr="Smiling schoolgirl wearing a 160 Girls Justice t-shirt">    </p:cNvPr>
          <p:cNvPicPr>
            <a:picLocks noChangeAspect="1"/>
          </p:cNvPicPr>
          <p:nvPr/>
        </p:nvPicPr>
        <p:blipFill>
          <a:blip r:embed="rId1"/>
          <a:stretch>
            <a:fillRect/>
          </a:stretch>
        </p:blipFill>
        <p:spPr>
          <a:xfrm>
            <a:off x="0" y="0"/>
            <a:ext cx="4023360" cy="5143500"/>
          </a:xfrm>
          <a:prstGeom prst="rect">
            <a:avLst/>
          </a:prstGeom>
        </p:spPr>
      </p:pic>
      <p:sp>
        <p:nvSpPr>
          <p:cNvPr id="3" name="Logo backing"/>
          <p:cNvSpPr/>
          <p:nvPr/>
        </p:nvSpPr>
        <p:spPr>
          <a:xfrm>
            <a:off x="4526280" y="502920"/>
            <a:ext cx="868680" cy="868680"/>
          </a:xfrm>
          <a:prstGeom prst="ellipse">
            <a:avLst/>
          </a:prstGeom>
          <a:solidFill>
            <a:schemeClr val="bg1"/>
          </a:solidFill>
          <a:ln/>
        </p:spPr>
      </p:sp>
      <p:pic>
        <p:nvPicPr>
          <p:cNvPr id="4" name="Logo" descr="the equality effect logo">    </p:cNvPr>
          <p:cNvPicPr>
            <a:picLocks noChangeAspect="1"/>
          </p:cNvPicPr>
          <p:nvPr/>
        </p:nvPicPr>
        <p:blipFill>
          <a:blip r:embed="rId2"/>
          <a:stretch>
            <a:fillRect/>
          </a:stretch>
        </p:blipFill>
        <p:spPr>
          <a:xfrm>
            <a:off x="4599432" y="576072"/>
            <a:ext cx="722376" cy="722376"/>
          </a:xfrm>
          <a:prstGeom prst="rect">
            <a:avLst/>
          </a:prstGeom>
        </p:spPr>
      </p:pic>
      <p:sp>
        <p:nvSpPr>
          <p:cNvPr id="5" name="Text 0"/>
          <p:cNvSpPr/>
          <p:nvPr>
            <p:ph idx="100" type="title" hasCustomPrompt="1"/>
          </p:nvPr>
        </p:nvSpPr>
        <p:spPr>
          <a:xfrm>
            <a:off x="4526280" y="1600200"/>
            <a:ext cx="4206240" cy="1737360"/>
          </a:xfrm>
          <a:prstGeom prst="rect">
            <a:avLst/>
          </a:prstGeom>
          <a:noFill/>
          <a:ln/>
        </p:spPr>
        <p:txBody>
          <a:bodyPr wrap="square" lIns="0" tIns="0" rIns="0" bIns="0" rtlCol="0" anchor="b"/>
          <a:lstStyle/>
          <a:p>
            <a:pPr algn="l" indent="0" marL="0">
              <a:buNone/>
            </a:pPr>
            <a:r>
              <a:rPr lang="en-US" sz="3400" b="1" dirty="0">
                <a:solidFill>
                  <a:schemeClr val="bg1"/>
                </a:solidFill>
                <a:latin typeface="Cambria" pitchFamily="34" charset="0"/>
                <a:ea typeface="Cambria" pitchFamily="34" charset="-122"/>
                <a:cs typeface="Cambria" pitchFamily="34" charset="-120"/>
              </a:rPr>
              <a:t>Requirements for Prosecution Quantitative Results</a:t>
            </a:r>
            <a:endParaRPr lang="en-US" sz="3400" dirty="0"/>
          </a:p>
        </p:txBody>
      </p:sp>
      <p:sp>
        <p:nvSpPr>
          <p:cNvPr id="6" name="Text 0"/>
          <p:cNvSpPr/>
          <p:nvPr>
            <p:ph idx="101" type="body" hasCustomPrompt="1"/>
          </p:nvPr>
        </p:nvSpPr>
        <p:spPr>
          <a:xfrm>
            <a:off x="4526280" y="3474720"/>
            <a:ext cx="4206240" cy="731520"/>
          </a:xfrm>
          <a:prstGeom prst="rect">
            <a:avLst/>
          </a:prstGeom>
          <a:noFill/>
          <a:ln/>
        </p:spPr>
        <p:txBody>
          <a:bodyPr wrap="square" lIns="0" tIns="0" rIns="0" bIns="0" rtlCol="0" anchor="t"/>
          <a:lstStyle/>
          <a:p>
            <a:pPr algn="l" indent="0" marL="0">
              <a:buNone/>
            </a:pPr>
            <a:r>
              <a:rPr lang="en-US" sz="1500" dirty="0">
                <a:solidFill>
                  <a:schemeClr val="accent2"/>
                </a:solidFill>
              </a:rPr>
              <a:t>Defining what we measure in defilement prosecutions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Work Backwards from the Desired Outcome</a:t>
            </a:r>
            <a:endParaRPr lang="en-US" sz="2800" dirty="0"/>
          </a:p>
        </p:txBody>
      </p:sp>
      <p:sp>
        <p:nvSpPr>
          <p:cNvPr id="3" name="Text 1"/>
          <p:cNvSpPr txBox="1"/>
          <p:nvPr/>
        </p:nvSpPr>
        <p:spPr>
          <a:xfrm>
            <a:off x="457200" y="987552"/>
            <a:ext cx="8229600" cy="292608"/>
          </a:xfrm>
          <a:prstGeom prst="rect">
            <a:avLst/>
          </a:prstGeom>
          <a:noFill/>
          <a:ln/>
        </p:spPr>
        <p:txBody>
          <a:bodyPr wrap="square" lIns="0" tIns="0" rIns="0" bIns="0" rtlCol="0" anchor="ctr"/>
          <a:lstStyle/>
          <a:p>
            <a:pPr indent="0" marL="0">
              <a:buNone/>
            </a:pPr>
            <a:r>
              <a:rPr lang="en-US" sz="1400" dirty="0">
                <a:solidFill>
                  <a:schemeClr val="accent3"/>
                </a:solidFill>
              </a:rPr>
              <a:t>Set measurement goals by defining the outcomes first, then the analysis, then the inputs that feed it.</a:t>
            </a:r>
            <a:endParaRPr lang="en-US" sz="1400" dirty="0"/>
          </a:p>
        </p:txBody>
      </p:sp>
      <p:sp>
        <p:nvSpPr>
          <p:cNvPr id="4" name="Input 1"/>
          <p:cNvSpPr/>
          <p:nvPr/>
        </p:nvSpPr>
        <p:spPr>
          <a:xfrm>
            <a:off x="2057400" y="1481328"/>
            <a:ext cx="1051560" cy="274320"/>
          </a:xfrm>
          <a:prstGeom prst="roundRect">
            <a:avLst>
              <a:gd name="adj" fmla="val 20000"/>
            </a:avLst>
          </a:prstGeom>
          <a:solidFill>
            <a:schemeClr val="bg2"/>
          </a:solidFill>
          <a:ln w="9525">
            <a:solidFill>
              <a:schemeClr val="accent4"/>
            </a:solidFill>
            <a:prstDash val="solid"/>
          </a:ln>
        </p:spPr>
      </p:sp>
      <p:sp>
        <p:nvSpPr>
          <p:cNvPr id="5" name="Text 3"/>
          <p:cNvSpPr txBox="1"/>
          <p:nvPr/>
        </p:nvSpPr>
        <p:spPr>
          <a:xfrm>
            <a:off x="2057400" y="1481328"/>
            <a:ext cx="1051560" cy="274320"/>
          </a:xfrm>
          <a:prstGeom prst="rect">
            <a:avLst/>
          </a:prstGeom>
          <a:noFill/>
          <a:ln/>
        </p:spPr>
        <p:txBody>
          <a:bodyPr wrap="square" lIns="0" tIns="0" rIns="0" bIns="0" rtlCol="0" anchor="ctr"/>
          <a:lstStyle/>
          <a:p>
            <a:pPr algn="ctr" indent="0" marL="0">
              <a:buNone/>
            </a:pPr>
            <a:r>
              <a:rPr lang="en-US" sz="1100" dirty="0">
                <a:solidFill>
                  <a:schemeClr val="tx1"/>
                </a:solidFill>
              </a:rPr>
              <a:t>Input 1</a:t>
            </a:r>
            <a:endParaRPr lang="en-US" sz="1100" dirty="0"/>
          </a:p>
        </p:txBody>
      </p:sp>
      <p:sp>
        <p:nvSpPr>
          <p:cNvPr id="6" name="Connector 1"/>
          <p:cNvSpPr/>
          <p:nvPr/>
        </p:nvSpPr>
        <p:spPr>
          <a:xfrm>
            <a:off x="3108960" y="1618488"/>
            <a:ext cx="822960" cy="1421892"/>
          </a:xfrm>
          <a:prstGeom prst="line">
            <a:avLst/>
          </a:prstGeom>
          <a:noFill/>
          <a:ln w="9525">
            <a:solidFill>
              <a:schemeClr val="accent3"/>
            </a:solidFill>
            <a:prstDash val="solid"/>
          </a:ln>
        </p:spPr>
      </p:sp>
      <p:sp>
        <p:nvSpPr>
          <p:cNvPr id="7" name="Input 2"/>
          <p:cNvSpPr/>
          <p:nvPr/>
        </p:nvSpPr>
        <p:spPr>
          <a:xfrm>
            <a:off x="2057400" y="1847088"/>
            <a:ext cx="1051560" cy="274320"/>
          </a:xfrm>
          <a:prstGeom prst="roundRect">
            <a:avLst>
              <a:gd name="adj" fmla="val 20000"/>
            </a:avLst>
          </a:prstGeom>
          <a:solidFill>
            <a:schemeClr val="bg2"/>
          </a:solidFill>
          <a:ln w="9525">
            <a:solidFill>
              <a:schemeClr val="accent4"/>
            </a:solidFill>
            <a:prstDash val="solid"/>
          </a:ln>
        </p:spPr>
      </p:sp>
      <p:sp>
        <p:nvSpPr>
          <p:cNvPr id="8" name="Text 6"/>
          <p:cNvSpPr txBox="1"/>
          <p:nvPr/>
        </p:nvSpPr>
        <p:spPr>
          <a:xfrm>
            <a:off x="2057400" y="1847088"/>
            <a:ext cx="1051560" cy="274320"/>
          </a:xfrm>
          <a:prstGeom prst="rect">
            <a:avLst/>
          </a:prstGeom>
          <a:noFill/>
          <a:ln/>
        </p:spPr>
        <p:txBody>
          <a:bodyPr wrap="square" lIns="0" tIns="0" rIns="0" bIns="0" rtlCol="0" anchor="ctr"/>
          <a:lstStyle/>
          <a:p>
            <a:pPr algn="ctr" indent="0" marL="0">
              <a:buNone/>
            </a:pPr>
            <a:r>
              <a:rPr lang="en-US" sz="1100" dirty="0">
                <a:solidFill>
                  <a:schemeClr val="tx1"/>
                </a:solidFill>
              </a:rPr>
              <a:t>Input 2</a:t>
            </a:r>
            <a:endParaRPr lang="en-US" sz="1100" dirty="0"/>
          </a:p>
        </p:txBody>
      </p:sp>
      <p:sp>
        <p:nvSpPr>
          <p:cNvPr id="9" name="Connector 2"/>
          <p:cNvSpPr/>
          <p:nvPr/>
        </p:nvSpPr>
        <p:spPr>
          <a:xfrm>
            <a:off x="3108960" y="1984248"/>
            <a:ext cx="822960" cy="1056132"/>
          </a:xfrm>
          <a:prstGeom prst="line">
            <a:avLst/>
          </a:prstGeom>
          <a:noFill/>
          <a:ln w="9525">
            <a:solidFill>
              <a:schemeClr val="accent3"/>
            </a:solidFill>
            <a:prstDash val="solid"/>
          </a:ln>
        </p:spPr>
      </p:sp>
      <p:sp>
        <p:nvSpPr>
          <p:cNvPr id="10" name="Input 3"/>
          <p:cNvSpPr/>
          <p:nvPr/>
        </p:nvSpPr>
        <p:spPr>
          <a:xfrm>
            <a:off x="2057400" y="2212848"/>
            <a:ext cx="1051560" cy="274320"/>
          </a:xfrm>
          <a:prstGeom prst="roundRect">
            <a:avLst>
              <a:gd name="adj" fmla="val 20000"/>
            </a:avLst>
          </a:prstGeom>
          <a:solidFill>
            <a:schemeClr val="bg2"/>
          </a:solidFill>
          <a:ln w="9525">
            <a:solidFill>
              <a:schemeClr val="accent4"/>
            </a:solidFill>
            <a:prstDash val="solid"/>
          </a:ln>
        </p:spPr>
      </p:sp>
      <p:sp>
        <p:nvSpPr>
          <p:cNvPr id="11" name="Text 9"/>
          <p:cNvSpPr txBox="1"/>
          <p:nvPr/>
        </p:nvSpPr>
        <p:spPr>
          <a:xfrm>
            <a:off x="2057400" y="2212848"/>
            <a:ext cx="1051560" cy="274320"/>
          </a:xfrm>
          <a:prstGeom prst="rect">
            <a:avLst/>
          </a:prstGeom>
          <a:noFill/>
          <a:ln/>
        </p:spPr>
        <p:txBody>
          <a:bodyPr wrap="square" lIns="0" tIns="0" rIns="0" bIns="0" rtlCol="0" anchor="ctr"/>
          <a:lstStyle/>
          <a:p>
            <a:pPr algn="ctr" indent="0" marL="0">
              <a:buNone/>
            </a:pPr>
            <a:r>
              <a:rPr lang="en-US" sz="1100" dirty="0">
                <a:solidFill>
                  <a:schemeClr val="tx1"/>
                </a:solidFill>
              </a:rPr>
              <a:t>Input 3</a:t>
            </a:r>
            <a:endParaRPr lang="en-US" sz="1100" dirty="0"/>
          </a:p>
        </p:txBody>
      </p:sp>
      <p:sp>
        <p:nvSpPr>
          <p:cNvPr id="12" name="Connector 3"/>
          <p:cNvSpPr/>
          <p:nvPr/>
        </p:nvSpPr>
        <p:spPr>
          <a:xfrm>
            <a:off x="3108960" y="2350008"/>
            <a:ext cx="822960" cy="690372"/>
          </a:xfrm>
          <a:prstGeom prst="line">
            <a:avLst/>
          </a:prstGeom>
          <a:noFill/>
          <a:ln w="9525">
            <a:solidFill>
              <a:schemeClr val="accent3"/>
            </a:solidFill>
            <a:prstDash val="solid"/>
          </a:ln>
        </p:spPr>
      </p:sp>
      <p:sp>
        <p:nvSpPr>
          <p:cNvPr id="13" name="Input 4"/>
          <p:cNvSpPr/>
          <p:nvPr/>
        </p:nvSpPr>
        <p:spPr>
          <a:xfrm>
            <a:off x="2057400" y="2578608"/>
            <a:ext cx="1051560" cy="274320"/>
          </a:xfrm>
          <a:prstGeom prst="roundRect">
            <a:avLst>
              <a:gd name="adj" fmla="val 20000"/>
            </a:avLst>
          </a:prstGeom>
          <a:solidFill>
            <a:schemeClr val="bg2"/>
          </a:solidFill>
          <a:ln w="9525">
            <a:solidFill>
              <a:schemeClr val="accent4"/>
            </a:solidFill>
            <a:prstDash val="solid"/>
          </a:ln>
        </p:spPr>
      </p:sp>
      <p:sp>
        <p:nvSpPr>
          <p:cNvPr id="14" name="Text 12"/>
          <p:cNvSpPr txBox="1"/>
          <p:nvPr/>
        </p:nvSpPr>
        <p:spPr>
          <a:xfrm>
            <a:off x="2057400" y="2578608"/>
            <a:ext cx="1051560" cy="274320"/>
          </a:xfrm>
          <a:prstGeom prst="rect">
            <a:avLst/>
          </a:prstGeom>
          <a:noFill/>
          <a:ln/>
        </p:spPr>
        <p:txBody>
          <a:bodyPr wrap="square" lIns="0" tIns="0" rIns="0" bIns="0" rtlCol="0" anchor="ctr"/>
          <a:lstStyle/>
          <a:p>
            <a:pPr algn="ctr" indent="0" marL="0">
              <a:buNone/>
            </a:pPr>
            <a:r>
              <a:rPr lang="en-US" sz="1100" dirty="0">
                <a:solidFill>
                  <a:schemeClr val="tx1"/>
                </a:solidFill>
              </a:rPr>
              <a:t>Input 4</a:t>
            </a:r>
            <a:endParaRPr lang="en-US" sz="1100" dirty="0"/>
          </a:p>
        </p:txBody>
      </p:sp>
      <p:sp>
        <p:nvSpPr>
          <p:cNvPr id="15" name="Connector 4"/>
          <p:cNvSpPr/>
          <p:nvPr/>
        </p:nvSpPr>
        <p:spPr>
          <a:xfrm>
            <a:off x="3108960" y="2715768"/>
            <a:ext cx="822960" cy="324612"/>
          </a:xfrm>
          <a:prstGeom prst="line">
            <a:avLst/>
          </a:prstGeom>
          <a:noFill/>
          <a:ln w="9525">
            <a:solidFill>
              <a:schemeClr val="accent3"/>
            </a:solidFill>
            <a:prstDash val="solid"/>
          </a:ln>
        </p:spPr>
      </p:sp>
      <p:sp>
        <p:nvSpPr>
          <p:cNvPr id="16" name="Input 5"/>
          <p:cNvSpPr/>
          <p:nvPr/>
        </p:nvSpPr>
        <p:spPr>
          <a:xfrm>
            <a:off x="2057400" y="2944368"/>
            <a:ext cx="1051560" cy="274320"/>
          </a:xfrm>
          <a:prstGeom prst="roundRect">
            <a:avLst>
              <a:gd name="adj" fmla="val 20000"/>
            </a:avLst>
          </a:prstGeom>
          <a:solidFill>
            <a:schemeClr val="bg2"/>
          </a:solidFill>
          <a:ln w="9525">
            <a:solidFill>
              <a:schemeClr val="accent4"/>
            </a:solidFill>
            <a:prstDash val="solid"/>
          </a:ln>
        </p:spPr>
      </p:sp>
      <p:sp>
        <p:nvSpPr>
          <p:cNvPr id="17" name="Text 15"/>
          <p:cNvSpPr txBox="1"/>
          <p:nvPr/>
        </p:nvSpPr>
        <p:spPr>
          <a:xfrm>
            <a:off x="2057400" y="2944368"/>
            <a:ext cx="1051560" cy="274320"/>
          </a:xfrm>
          <a:prstGeom prst="rect">
            <a:avLst/>
          </a:prstGeom>
          <a:noFill/>
          <a:ln/>
        </p:spPr>
        <p:txBody>
          <a:bodyPr wrap="square" lIns="0" tIns="0" rIns="0" bIns="0" rtlCol="0" anchor="ctr"/>
          <a:lstStyle/>
          <a:p>
            <a:pPr algn="ctr" indent="0" marL="0">
              <a:buNone/>
            </a:pPr>
            <a:r>
              <a:rPr lang="en-US" sz="1100" dirty="0">
                <a:solidFill>
                  <a:schemeClr val="tx1"/>
                </a:solidFill>
              </a:rPr>
              <a:t>Input 5</a:t>
            </a:r>
            <a:endParaRPr lang="en-US" sz="1100" dirty="0"/>
          </a:p>
        </p:txBody>
      </p:sp>
      <p:sp>
        <p:nvSpPr>
          <p:cNvPr id="18" name="Connector 5"/>
          <p:cNvSpPr/>
          <p:nvPr/>
        </p:nvSpPr>
        <p:spPr>
          <a:xfrm flipV="1">
            <a:off x="3108960" y="3040380"/>
            <a:ext cx="822960" cy="41148"/>
          </a:xfrm>
          <a:prstGeom prst="line">
            <a:avLst/>
          </a:prstGeom>
          <a:noFill/>
          <a:ln w="9525">
            <a:solidFill>
              <a:schemeClr val="accent3"/>
            </a:solidFill>
            <a:prstDash val="solid"/>
          </a:ln>
        </p:spPr>
      </p:sp>
      <p:sp>
        <p:nvSpPr>
          <p:cNvPr id="19" name="Input 6"/>
          <p:cNvSpPr/>
          <p:nvPr/>
        </p:nvSpPr>
        <p:spPr>
          <a:xfrm>
            <a:off x="2057400" y="3310128"/>
            <a:ext cx="1051560" cy="274320"/>
          </a:xfrm>
          <a:prstGeom prst="roundRect">
            <a:avLst>
              <a:gd name="adj" fmla="val 20000"/>
            </a:avLst>
          </a:prstGeom>
          <a:solidFill>
            <a:schemeClr val="bg2"/>
          </a:solidFill>
          <a:ln w="9525">
            <a:solidFill>
              <a:schemeClr val="accent4"/>
            </a:solidFill>
            <a:prstDash val="solid"/>
          </a:ln>
        </p:spPr>
      </p:sp>
      <p:sp>
        <p:nvSpPr>
          <p:cNvPr id="20" name="Text 18"/>
          <p:cNvSpPr txBox="1"/>
          <p:nvPr/>
        </p:nvSpPr>
        <p:spPr>
          <a:xfrm>
            <a:off x="2057400" y="3310128"/>
            <a:ext cx="1051560" cy="274320"/>
          </a:xfrm>
          <a:prstGeom prst="rect">
            <a:avLst/>
          </a:prstGeom>
          <a:noFill/>
          <a:ln/>
        </p:spPr>
        <p:txBody>
          <a:bodyPr wrap="square" lIns="0" tIns="0" rIns="0" bIns="0" rtlCol="0" anchor="ctr"/>
          <a:lstStyle/>
          <a:p>
            <a:pPr algn="ctr" indent="0" marL="0">
              <a:buNone/>
            </a:pPr>
            <a:r>
              <a:rPr lang="en-US" sz="1100" dirty="0">
                <a:solidFill>
                  <a:schemeClr val="tx1"/>
                </a:solidFill>
              </a:rPr>
              <a:t>Input 6</a:t>
            </a:r>
            <a:endParaRPr lang="en-US" sz="1100" dirty="0"/>
          </a:p>
        </p:txBody>
      </p:sp>
      <p:sp>
        <p:nvSpPr>
          <p:cNvPr id="21" name="Connector 6"/>
          <p:cNvSpPr/>
          <p:nvPr/>
        </p:nvSpPr>
        <p:spPr>
          <a:xfrm flipV="1">
            <a:off x="3108960" y="3040380"/>
            <a:ext cx="822960" cy="406908"/>
          </a:xfrm>
          <a:prstGeom prst="line">
            <a:avLst/>
          </a:prstGeom>
          <a:noFill/>
          <a:ln w="9525">
            <a:solidFill>
              <a:schemeClr val="accent3"/>
            </a:solidFill>
            <a:prstDash val="solid"/>
          </a:ln>
        </p:spPr>
      </p:sp>
      <p:sp>
        <p:nvSpPr>
          <p:cNvPr id="22" name="Input 7"/>
          <p:cNvSpPr/>
          <p:nvPr/>
        </p:nvSpPr>
        <p:spPr>
          <a:xfrm>
            <a:off x="2057400" y="3675888"/>
            <a:ext cx="1051560" cy="274320"/>
          </a:xfrm>
          <a:prstGeom prst="roundRect">
            <a:avLst>
              <a:gd name="adj" fmla="val 20000"/>
            </a:avLst>
          </a:prstGeom>
          <a:solidFill>
            <a:schemeClr val="bg2"/>
          </a:solidFill>
          <a:ln w="9525">
            <a:solidFill>
              <a:schemeClr val="accent4"/>
            </a:solidFill>
            <a:prstDash val="solid"/>
          </a:ln>
        </p:spPr>
      </p:sp>
      <p:sp>
        <p:nvSpPr>
          <p:cNvPr id="23" name="Text 21"/>
          <p:cNvSpPr txBox="1"/>
          <p:nvPr/>
        </p:nvSpPr>
        <p:spPr>
          <a:xfrm>
            <a:off x="2057400" y="3675888"/>
            <a:ext cx="1051560" cy="274320"/>
          </a:xfrm>
          <a:prstGeom prst="rect">
            <a:avLst/>
          </a:prstGeom>
          <a:noFill/>
          <a:ln/>
        </p:spPr>
        <p:txBody>
          <a:bodyPr wrap="square" lIns="0" tIns="0" rIns="0" bIns="0" rtlCol="0" anchor="ctr"/>
          <a:lstStyle/>
          <a:p>
            <a:pPr algn="ctr" indent="0" marL="0">
              <a:buNone/>
            </a:pPr>
            <a:r>
              <a:rPr lang="en-US" sz="1100" dirty="0">
                <a:solidFill>
                  <a:schemeClr val="tx1"/>
                </a:solidFill>
              </a:rPr>
              <a:t>Input 7</a:t>
            </a:r>
            <a:endParaRPr lang="en-US" sz="1100" dirty="0"/>
          </a:p>
        </p:txBody>
      </p:sp>
      <p:sp>
        <p:nvSpPr>
          <p:cNvPr id="24" name="Connector 7"/>
          <p:cNvSpPr/>
          <p:nvPr/>
        </p:nvSpPr>
        <p:spPr>
          <a:xfrm flipV="1">
            <a:off x="3108960" y="3040380"/>
            <a:ext cx="822960" cy="772668"/>
          </a:xfrm>
          <a:prstGeom prst="line">
            <a:avLst/>
          </a:prstGeom>
          <a:noFill/>
          <a:ln w="9525">
            <a:solidFill>
              <a:schemeClr val="accent3"/>
            </a:solidFill>
            <a:prstDash val="solid"/>
          </a:ln>
        </p:spPr>
      </p:sp>
      <p:sp>
        <p:nvSpPr>
          <p:cNvPr id="25" name="Input 8"/>
          <p:cNvSpPr/>
          <p:nvPr/>
        </p:nvSpPr>
        <p:spPr>
          <a:xfrm>
            <a:off x="2057400" y="4041648"/>
            <a:ext cx="1051560" cy="274320"/>
          </a:xfrm>
          <a:prstGeom prst="roundRect">
            <a:avLst>
              <a:gd name="adj" fmla="val 20000"/>
            </a:avLst>
          </a:prstGeom>
          <a:solidFill>
            <a:schemeClr val="bg2"/>
          </a:solidFill>
          <a:ln w="9525">
            <a:solidFill>
              <a:schemeClr val="accent4"/>
            </a:solidFill>
            <a:prstDash val="solid"/>
          </a:ln>
        </p:spPr>
      </p:sp>
      <p:sp>
        <p:nvSpPr>
          <p:cNvPr id="26" name="Text 24"/>
          <p:cNvSpPr txBox="1"/>
          <p:nvPr/>
        </p:nvSpPr>
        <p:spPr>
          <a:xfrm>
            <a:off x="2057400" y="4041648"/>
            <a:ext cx="1051560" cy="274320"/>
          </a:xfrm>
          <a:prstGeom prst="rect">
            <a:avLst/>
          </a:prstGeom>
          <a:noFill/>
          <a:ln/>
        </p:spPr>
        <p:txBody>
          <a:bodyPr wrap="square" lIns="0" tIns="0" rIns="0" bIns="0" rtlCol="0" anchor="ctr"/>
          <a:lstStyle/>
          <a:p>
            <a:pPr algn="ctr" indent="0" marL="0">
              <a:buNone/>
            </a:pPr>
            <a:r>
              <a:rPr lang="en-US" sz="1100" dirty="0">
                <a:solidFill>
                  <a:schemeClr val="tx1"/>
                </a:solidFill>
              </a:rPr>
              <a:t>Input n</a:t>
            </a:r>
            <a:endParaRPr lang="en-US" sz="1100" dirty="0"/>
          </a:p>
        </p:txBody>
      </p:sp>
      <p:sp>
        <p:nvSpPr>
          <p:cNvPr id="27" name="Connector 8"/>
          <p:cNvSpPr/>
          <p:nvPr/>
        </p:nvSpPr>
        <p:spPr>
          <a:xfrm flipV="1">
            <a:off x="3108960" y="3040380"/>
            <a:ext cx="822960" cy="1138428"/>
          </a:xfrm>
          <a:prstGeom prst="line">
            <a:avLst/>
          </a:prstGeom>
          <a:noFill/>
          <a:ln w="9525">
            <a:solidFill>
              <a:schemeClr val="accent3"/>
            </a:solidFill>
            <a:prstDash val="solid"/>
          </a:ln>
        </p:spPr>
      </p:sp>
      <p:sp>
        <p:nvSpPr>
          <p:cNvPr id="28" name="Inputs bracket"/>
          <p:cNvSpPr/>
          <p:nvPr/>
        </p:nvSpPr>
        <p:spPr>
          <a:xfrm>
            <a:off x="1828800" y="1481328"/>
            <a:ext cx="146304" cy="2834640"/>
          </a:xfrm>
          <a:prstGeom prst="leftBrace">
            <a:avLst/>
          </a:prstGeom>
          <a:noFill/>
          <a:ln w="19050">
            <a:solidFill>
              <a:schemeClr val="accent2"/>
            </a:solidFill>
            <a:prstDash val="solid"/>
          </a:ln>
        </p:spPr>
      </p:sp>
      <p:sp>
        <p:nvSpPr>
          <p:cNvPr id="29" name="Hardest part callout"/>
          <p:cNvSpPr/>
          <p:nvPr/>
        </p:nvSpPr>
        <p:spPr>
          <a:xfrm>
            <a:off x="457200" y="2514600"/>
            <a:ext cx="1234440" cy="960120"/>
          </a:xfrm>
          <a:prstGeom prst="roundRect">
            <a:avLst>
              <a:gd name="adj" fmla="val 7619"/>
            </a:avLst>
          </a:prstGeom>
          <a:solidFill>
            <a:schemeClr val="accent2"/>
          </a:solidFill>
          <a:ln/>
        </p:spPr>
      </p:sp>
      <p:sp>
        <p:nvSpPr>
          <p:cNvPr id="30" name="Text 28"/>
          <p:cNvSpPr txBox="1"/>
          <p:nvPr/>
        </p:nvSpPr>
        <p:spPr>
          <a:xfrm>
            <a:off x="457200" y="2514600"/>
            <a:ext cx="1234440" cy="960120"/>
          </a:xfrm>
          <a:prstGeom prst="rect">
            <a:avLst/>
          </a:prstGeom>
          <a:noFill/>
          <a:ln/>
        </p:spPr>
        <p:txBody>
          <a:bodyPr wrap="square" lIns="635" tIns="635" rIns="635" bIns="635" rtlCol="0" anchor="ctr"/>
          <a:lstStyle/>
          <a:p>
            <a:pPr algn="ctr" indent="0" marL="0">
              <a:buNone/>
            </a:pPr>
            <a:r>
              <a:rPr lang="en-US" sz="1400" dirty="0">
                <a:solidFill>
                  <a:schemeClr val="tx2"/>
                </a:solidFill>
              </a:rPr>
              <a:t>This is the</a:t>
            </a:r>
            <a:endParaRPr lang="en-US" sz="1400" dirty="0"/>
          </a:p>
          <a:p>
            <a:pPr algn="ctr" indent="0" marL="0">
              <a:buNone/>
            </a:pPr>
            <a:r>
              <a:rPr lang="en-US" sz="1400" b="1" dirty="0">
                <a:solidFill>
                  <a:schemeClr val="tx2"/>
                </a:solidFill>
              </a:rPr>
              <a:t>hardest part</a:t>
            </a:r>
            <a:endParaRPr lang="en-US" sz="1400" dirty="0"/>
          </a:p>
        </p:txBody>
      </p:sp>
      <p:sp>
        <p:nvSpPr>
          <p:cNvPr id="31" name="Text 29"/>
          <p:cNvSpPr txBox="1"/>
          <p:nvPr/>
        </p:nvSpPr>
        <p:spPr>
          <a:xfrm>
            <a:off x="3931920" y="1399032"/>
            <a:ext cx="1828800" cy="237744"/>
          </a:xfrm>
          <a:prstGeom prst="rect">
            <a:avLst/>
          </a:prstGeom>
          <a:noFill/>
          <a:ln/>
        </p:spPr>
        <p:txBody>
          <a:bodyPr wrap="square" lIns="0" tIns="0" rIns="0" bIns="0" rtlCol="0" anchor="ctr"/>
          <a:lstStyle/>
          <a:p>
            <a:pPr algn="ctr" indent="0" marL="0">
              <a:buNone/>
            </a:pPr>
            <a:r>
              <a:rPr lang="en-US" sz="1000" b="1" spc="200" kern="0" dirty="0">
                <a:solidFill>
                  <a:schemeClr val="accent1"/>
                </a:solidFill>
              </a:rPr>
              <a:t>ANALYSIS ENGINE</a:t>
            </a:r>
            <a:endParaRPr lang="en-US" sz="1000" dirty="0"/>
          </a:p>
        </p:txBody>
      </p:sp>
      <p:sp>
        <p:nvSpPr>
          <p:cNvPr id="32" name="Engine"/>
          <p:cNvSpPr/>
          <p:nvPr/>
        </p:nvSpPr>
        <p:spPr>
          <a:xfrm>
            <a:off x="3931920" y="1691640"/>
            <a:ext cx="1828800" cy="2697480"/>
          </a:xfrm>
          <a:prstGeom prst="roundRect">
            <a:avLst>
              <a:gd name="adj" fmla="val 6000"/>
            </a:avLst>
          </a:prstGeom>
          <a:solidFill>
            <a:schemeClr val="accent1"/>
          </a:solidFill>
          <a:ln/>
          <a:effectLst>
            <a:outerShdw sx="100000" sy="100000" kx="0" ky="0" algn="bl" rotWithShape="0" blurRad="76200" dist="25400" dir="5400000">
              <a:srgbClr val="000000">
                <a:alpha val="18000"/>
              </a:srgbClr>
            </a:outerShdw>
          </a:effectLst>
        </p:spPr>
      </p:sp>
      <p:pic>
        <p:nvPicPr>
          <p:cNvPr id="33" name="Gears icon" descr="preencoded.png">    </p:cNvPr>
          <p:cNvPicPr>
            <a:picLocks noChangeAspect="1"/>
          </p:cNvPicPr>
          <p:nvPr/>
        </p:nvPicPr>
        <p:blipFill>
          <a:blip r:embed="rId1"/>
          <a:stretch>
            <a:fillRect/>
          </a:stretch>
        </p:blipFill>
        <p:spPr>
          <a:xfrm>
            <a:off x="4572000" y="1856232"/>
            <a:ext cx="548640" cy="548640"/>
          </a:xfrm>
          <a:prstGeom prst="rect">
            <a:avLst/>
          </a:prstGeom>
        </p:spPr>
      </p:pic>
      <p:sp>
        <p:nvSpPr>
          <p:cNvPr id="34" name="Text 31"/>
          <p:cNvSpPr txBox="1"/>
          <p:nvPr/>
        </p:nvSpPr>
        <p:spPr>
          <a:xfrm>
            <a:off x="3931920" y="2441448"/>
            <a:ext cx="1828800" cy="41148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t-Test</a:t>
            </a:r>
            <a:endParaRPr lang="en-US" sz="2400" dirty="0"/>
          </a:p>
        </p:txBody>
      </p:sp>
      <p:sp>
        <p:nvSpPr>
          <p:cNvPr id="35" name="Text 32"/>
          <p:cNvSpPr txBox="1"/>
          <p:nvPr/>
        </p:nvSpPr>
        <p:spPr>
          <a:xfrm>
            <a:off x="3931920" y="2852928"/>
            <a:ext cx="1828800" cy="274320"/>
          </a:xfrm>
          <a:prstGeom prst="rect">
            <a:avLst/>
          </a:prstGeom>
          <a:noFill/>
          <a:ln/>
        </p:spPr>
        <p:txBody>
          <a:bodyPr wrap="square" lIns="0" tIns="0" rIns="0" bIns="0" rtlCol="0" anchor="ctr"/>
          <a:lstStyle/>
          <a:p>
            <a:pPr algn="ctr" indent="0" marL="0">
              <a:buNone/>
            </a:pPr>
            <a:r>
              <a:rPr lang="en-US" sz="1200" dirty="0">
                <a:solidFill>
                  <a:schemeClr val="accent4"/>
                </a:solidFill>
              </a:rPr>
              <a:t>Compare group means</a:t>
            </a:r>
            <a:endParaRPr lang="en-US" sz="1200" dirty="0"/>
          </a:p>
        </p:txBody>
      </p:sp>
      <p:sp>
        <p:nvSpPr>
          <p:cNvPr id="36" name="Formula card"/>
          <p:cNvSpPr/>
          <p:nvPr/>
        </p:nvSpPr>
        <p:spPr>
          <a:xfrm>
            <a:off x="4096512" y="3246120"/>
            <a:ext cx="1499616" cy="960120"/>
          </a:xfrm>
          <a:prstGeom prst="roundRect">
            <a:avLst>
              <a:gd name="adj" fmla="val 7619"/>
            </a:avLst>
          </a:prstGeom>
          <a:solidFill>
            <a:schemeClr val="bg1"/>
          </a:solidFill>
          <a:ln/>
        </p:spPr>
      </p:sp>
      <p:sp>
        <p:nvSpPr>
          <p:cNvPr id="37" name="Text 34"/>
          <p:cNvSpPr txBox="1"/>
          <p:nvPr/>
        </p:nvSpPr>
        <p:spPr>
          <a:xfrm>
            <a:off x="4096512" y="3246120"/>
            <a:ext cx="1499616" cy="960120"/>
          </a:xfrm>
          <a:prstGeom prst="rect">
            <a:avLst/>
          </a:prstGeom>
          <a:noFill/>
          <a:ln/>
        </p:spPr>
        <p:txBody>
          <a:bodyPr wrap="square" lIns="635" tIns="635" rIns="635" bIns="635" rtlCol="0" anchor="ctr"/>
          <a:lstStyle/>
          <a:p>
            <a:pPr algn="ctr" indent="0" marL="0">
              <a:spcAft>
                <a:spcPts val="400"/>
              </a:spcAft>
              <a:buNone/>
            </a:pPr>
            <a:r>
              <a:rPr lang="en-US" sz="1500" i="1" dirty="0">
                <a:solidFill>
                  <a:schemeClr val="tx1"/>
                </a:solidFill>
                <a:latin typeface="Cambria" pitchFamily="34" charset="0"/>
                <a:ea typeface="Cambria" pitchFamily="34" charset="-122"/>
                <a:cs typeface="Cambria" pitchFamily="34" charset="-120"/>
              </a:rPr>
              <a:t>t = (x̄₁ − x̄₂) / SE</a:t>
            </a:r>
            <a:endParaRPr lang="en-US" sz="1500" dirty="0"/>
          </a:p>
          <a:p>
            <a:pPr algn="ctr" indent="0" marL="0">
              <a:spcAft>
                <a:spcPts val="400"/>
              </a:spcAft>
              <a:buNone/>
            </a:pPr>
            <a:r>
              <a:rPr lang="en-US" sz="1100" dirty="0">
                <a:solidFill>
                  <a:schemeClr val="accent1"/>
                </a:solidFill>
              </a:rPr>
              <a:t>p &lt; 0.05 → significant</a:t>
            </a:r>
            <a:endParaRPr lang="en-US" sz="1500" dirty="0"/>
          </a:p>
        </p:txBody>
      </p:sp>
      <p:sp>
        <p:nvSpPr>
          <p:cNvPr id="38" name="Outcome arrow 1"/>
          <p:cNvSpPr/>
          <p:nvPr/>
        </p:nvSpPr>
        <p:spPr>
          <a:xfrm flipV="1">
            <a:off x="5760720" y="2016252"/>
            <a:ext cx="640080" cy="1024128"/>
          </a:xfrm>
          <a:prstGeom prst="line">
            <a:avLst/>
          </a:prstGeom>
          <a:noFill/>
          <a:ln w="12700">
            <a:solidFill>
              <a:schemeClr val="accent3"/>
            </a:solidFill>
            <a:prstDash val="solid"/>
            <a:tailEnd type="triangle"/>
          </a:ln>
        </p:spPr>
      </p:sp>
      <p:sp>
        <p:nvSpPr>
          <p:cNvPr id="39" name="Outcome 1"/>
          <p:cNvSpPr/>
          <p:nvPr/>
        </p:nvSpPr>
        <p:spPr>
          <a:xfrm>
            <a:off x="6400800" y="1641348"/>
            <a:ext cx="2286000" cy="749808"/>
          </a:xfrm>
          <a:prstGeom prst="roundRect">
            <a:avLst>
              <a:gd name="adj" fmla="val 9756"/>
            </a:avLst>
          </a:prstGeom>
          <a:solidFill>
            <a:schemeClr val="bg2"/>
          </a:solidFill>
          <a:ln w="9525">
            <a:solidFill>
              <a:schemeClr val="accent4"/>
            </a:solidFill>
            <a:prstDash val="solid"/>
          </a:ln>
        </p:spPr>
      </p:sp>
      <p:sp>
        <p:nvSpPr>
          <p:cNvPr id="40" name="Outcome number 1"/>
          <p:cNvSpPr/>
          <p:nvPr/>
        </p:nvSpPr>
        <p:spPr>
          <a:xfrm>
            <a:off x="6537960" y="1833372"/>
            <a:ext cx="365760" cy="365760"/>
          </a:xfrm>
          <a:prstGeom prst="ellipse">
            <a:avLst/>
          </a:prstGeom>
          <a:solidFill>
            <a:schemeClr val="accent1"/>
          </a:solidFill>
          <a:ln/>
        </p:spPr>
      </p:sp>
      <p:sp>
        <p:nvSpPr>
          <p:cNvPr id="41" name="Text 38"/>
          <p:cNvSpPr txBox="1"/>
          <p:nvPr/>
        </p:nvSpPr>
        <p:spPr>
          <a:xfrm>
            <a:off x="6537960" y="183337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2" name="Text 39"/>
          <p:cNvSpPr txBox="1"/>
          <p:nvPr/>
        </p:nvSpPr>
        <p:spPr>
          <a:xfrm>
            <a:off x="6995160" y="1641348"/>
            <a:ext cx="1600200" cy="749808"/>
          </a:xfrm>
          <a:prstGeom prst="rect">
            <a:avLst/>
          </a:prstGeom>
          <a:noFill/>
          <a:ln/>
        </p:spPr>
        <p:txBody>
          <a:bodyPr wrap="square" lIns="0" tIns="0" rIns="0" bIns="0" rtlCol="0" anchor="ctr"/>
          <a:lstStyle/>
          <a:p>
            <a:pPr indent="0" marL="0">
              <a:buNone/>
            </a:pPr>
            <a:r>
              <a:rPr lang="en-US" sz="1300" b="1" dirty="0">
                <a:solidFill>
                  <a:schemeClr val="tx2"/>
                </a:solidFill>
              </a:rPr>
              <a:t>Complying with Substantive Equality</a:t>
            </a:r>
            <a:endParaRPr lang="en-US" sz="1300" dirty="0"/>
          </a:p>
        </p:txBody>
      </p:sp>
      <p:sp>
        <p:nvSpPr>
          <p:cNvPr id="43" name="Outcome arrow 2"/>
          <p:cNvSpPr/>
          <p:nvPr/>
        </p:nvSpPr>
        <p:spPr>
          <a:xfrm>
            <a:off x="5760720" y="3040380"/>
            <a:ext cx="640080" cy="914"/>
          </a:xfrm>
          <a:prstGeom prst="line">
            <a:avLst/>
          </a:prstGeom>
          <a:noFill/>
          <a:ln w="12700">
            <a:solidFill>
              <a:schemeClr val="accent3"/>
            </a:solidFill>
            <a:prstDash val="solid"/>
            <a:tailEnd type="triangle"/>
          </a:ln>
        </p:spPr>
      </p:sp>
      <p:sp>
        <p:nvSpPr>
          <p:cNvPr id="44" name="Outcome 2"/>
          <p:cNvSpPr/>
          <p:nvPr/>
        </p:nvSpPr>
        <p:spPr>
          <a:xfrm>
            <a:off x="6400800" y="2665476"/>
            <a:ext cx="2286000" cy="749808"/>
          </a:xfrm>
          <a:prstGeom prst="roundRect">
            <a:avLst>
              <a:gd name="adj" fmla="val 9756"/>
            </a:avLst>
          </a:prstGeom>
          <a:solidFill>
            <a:schemeClr val="bg2"/>
          </a:solidFill>
          <a:ln w="9525">
            <a:solidFill>
              <a:schemeClr val="accent4"/>
            </a:solidFill>
            <a:prstDash val="solid"/>
          </a:ln>
        </p:spPr>
      </p:sp>
      <p:sp>
        <p:nvSpPr>
          <p:cNvPr id="45" name="Outcome number 2"/>
          <p:cNvSpPr/>
          <p:nvPr/>
        </p:nvSpPr>
        <p:spPr>
          <a:xfrm>
            <a:off x="6537960" y="2857500"/>
            <a:ext cx="365760" cy="365760"/>
          </a:xfrm>
          <a:prstGeom prst="ellipse">
            <a:avLst/>
          </a:prstGeom>
          <a:solidFill>
            <a:schemeClr val="accent1"/>
          </a:solidFill>
          <a:ln/>
        </p:spPr>
      </p:sp>
      <p:sp>
        <p:nvSpPr>
          <p:cNvPr id="46" name="Text 43"/>
          <p:cNvSpPr txBox="1"/>
          <p:nvPr/>
        </p:nvSpPr>
        <p:spPr>
          <a:xfrm>
            <a:off x="6537960" y="28575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7" name="Text 44"/>
          <p:cNvSpPr txBox="1"/>
          <p:nvPr/>
        </p:nvSpPr>
        <p:spPr>
          <a:xfrm>
            <a:off x="6995160" y="2665476"/>
            <a:ext cx="1600200" cy="749808"/>
          </a:xfrm>
          <a:prstGeom prst="rect">
            <a:avLst/>
          </a:prstGeom>
          <a:noFill/>
          <a:ln/>
        </p:spPr>
        <p:txBody>
          <a:bodyPr wrap="square" lIns="0" tIns="0" rIns="0" bIns="0" rtlCol="0" anchor="ctr"/>
          <a:lstStyle/>
          <a:p>
            <a:pPr indent="0" marL="0">
              <a:buNone/>
            </a:pPr>
            <a:r>
              <a:rPr lang="en-US" sz="1300" b="1" dirty="0">
                <a:solidFill>
                  <a:schemeClr val="tx2"/>
                </a:solidFill>
              </a:rPr>
              <a:t>Trauma Informed Standards</a:t>
            </a:r>
            <a:endParaRPr lang="en-US" sz="1300" dirty="0"/>
          </a:p>
        </p:txBody>
      </p:sp>
      <p:sp>
        <p:nvSpPr>
          <p:cNvPr id="48" name="Outcome arrow 3"/>
          <p:cNvSpPr/>
          <p:nvPr/>
        </p:nvSpPr>
        <p:spPr>
          <a:xfrm>
            <a:off x="5760720" y="3040380"/>
            <a:ext cx="640080" cy="1024128"/>
          </a:xfrm>
          <a:prstGeom prst="line">
            <a:avLst/>
          </a:prstGeom>
          <a:noFill/>
          <a:ln w="12700">
            <a:solidFill>
              <a:schemeClr val="accent3"/>
            </a:solidFill>
            <a:prstDash val="solid"/>
            <a:tailEnd type="triangle"/>
          </a:ln>
        </p:spPr>
      </p:sp>
      <p:sp>
        <p:nvSpPr>
          <p:cNvPr id="49" name="Outcome 3"/>
          <p:cNvSpPr/>
          <p:nvPr/>
        </p:nvSpPr>
        <p:spPr>
          <a:xfrm>
            <a:off x="6400800" y="3689604"/>
            <a:ext cx="2286000" cy="749808"/>
          </a:xfrm>
          <a:prstGeom prst="roundRect">
            <a:avLst>
              <a:gd name="adj" fmla="val 9756"/>
            </a:avLst>
          </a:prstGeom>
          <a:solidFill>
            <a:schemeClr val="bg2"/>
          </a:solidFill>
          <a:ln w="9525">
            <a:solidFill>
              <a:schemeClr val="accent4"/>
            </a:solidFill>
            <a:prstDash val="solid"/>
          </a:ln>
        </p:spPr>
      </p:sp>
      <p:sp>
        <p:nvSpPr>
          <p:cNvPr id="50" name="Outcome number 3"/>
          <p:cNvSpPr/>
          <p:nvPr/>
        </p:nvSpPr>
        <p:spPr>
          <a:xfrm>
            <a:off x="6537960" y="3881628"/>
            <a:ext cx="365760" cy="365760"/>
          </a:xfrm>
          <a:prstGeom prst="ellipse">
            <a:avLst/>
          </a:prstGeom>
          <a:solidFill>
            <a:schemeClr val="accent1"/>
          </a:solidFill>
          <a:ln/>
        </p:spPr>
      </p:sp>
      <p:sp>
        <p:nvSpPr>
          <p:cNvPr id="51" name="Text 48"/>
          <p:cNvSpPr txBox="1"/>
          <p:nvPr/>
        </p:nvSpPr>
        <p:spPr>
          <a:xfrm>
            <a:off x="6537960" y="38816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52" name="Text 49"/>
          <p:cNvSpPr txBox="1"/>
          <p:nvPr/>
        </p:nvSpPr>
        <p:spPr>
          <a:xfrm>
            <a:off x="6995160" y="3689604"/>
            <a:ext cx="1600200" cy="749808"/>
          </a:xfrm>
          <a:prstGeom prst="rect">
            <a:avLst/>
          </a:prstGeom>
          <a:noFill/>
          <a:ln/>
        </p:spPr>
        <p:txBody>
          <a:bodyPr wrap="square" lIns="0" tIns="0" rIns="0" bIns="0" rtlCol="0" anchor="ctr"/>
          <a:lstStyle/>
          <a:p>
            <a:pPr indent="0" marL="0">
              <a:buNone/>
            </a:pPr>
            <a:r>
              <a:rPr lang="en-US" sz="1300" b="1" dirty="0">
                <a:solidFill>
                  <a:schemeClr val="tx2"/>
                </a:solidFill>
              </a:rPr>
              <a:t>No Infliction of Institutional Betrayal</a:t>
            </a:r>
            <a:endParaRPr lang="en-US" sz="1300" dirty="0"/>
          </a:p>
        </p:txBody>
      </p:sp>
      <p:sp>
        <p:nvSpPr>
          <p:cNvPr id="25" name="Slide Number Placeholder 0"/>
          <p:cNvSpPr>
            <a:spLocks noGrp="1"/>
          </p:cNvSpPr>
          <p:nvPr>
            <p:ph type="sldNum" sz="quarter" idx="4294967295"/>
          </p:nvPr>
        </p:nvSpPr>
        <p:spPr>
          <a:xfrm>
            <a:off x="772668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Desired Outcomes Defined</a:t>
            </a:r>
            <a:endParaRPr lang="en-US" sz="2800" dirty="0"/>
          </a:p>
        </p:txBody>
      </p:sp>
      <p:sp>
        <p:nvSpPr>
          <p:cNvPr id="3" name="Quote card"/>
          <p:cNvSpPr/>
          <p:nvPr/>
        </p:nvSpPr>
        <p:spPr>
          <a:xfrm>
            <a:off x="457200" y="1188720"/>
            <a:ext cx="4389120" cy="3200400"/>
          </a:xfrm>
          <a:prstGeom prst="roundRect">
            <a:avLst>
              <a:gd name="adj" fmla="val 3429"/>
            </a:avLst>
          </a:prstGeom>
          <a:solidFill>
            <a:schemeClr val="tx2"/>
          </a:solidFill>
          <a:ln/>
        </p:spPr>
      </p:sp>
      <p:sp>
        <p:nvSpPr>
          <p:cNvPr id="4" name="Text 2"/>
          <p:cNvSpPr txBox="1"/>
          <p:nvPr/>
        </p:nvSpPr>
        <p:spPr>
          <a:xfrm>
            <a:off x="685800" y="1188720"/>
            <a:ext cx="731520" cy="822960"/>
          </a:xfrm>
          <a:prstGeom prst="rect">
            <a:avLst/>
          </a:prstGeom>
          <a:noFill/>
          <a:ln/>
        </p:spPr>
        <p:txBody>
          <a:bodyPr wrap="square" lIns="0" tIns="0" rIns="0" bIns="0" rtlCol="0" anchor="t"/>
          <a:lstStyle/>
          <a:p>
            <a:pPr indent="0" marL="0">
              <a:buNone/>
            </a:pPr>
            <a:r>
              <a:rPr lang="en-US" sz="7200" dirty="0">
                <a:solidFill>
                  <a:schemeClr val="accent2"/>
                </a:solidFill>
                <a:latin typeface="Cambria" pitchFamily="34" charset="0"/>
                <a:ea typeface="Cambria" pitchFamily="34" charset="-122"/>
                <a:cs typeface="Cambria" pitchFamily="34" charset="-120"/>
              </a:rPr>
              <a:t>“</a:t>
            </a:r>
            <a:endParaRPr lang="en-US" sz="7200" dirty="0"/>
          </a:p>
        </p:txBody>
      </p:sp>
      <p:sp>
        <p:nvSpPr>
          <p:cNvPr id="5" name="Text 3"/>
          <p:cNvSpPr txBox="1"/>
          <p:nvPr/>
        </p:nvSpPr>
        <p:spPr>
          <a:xfrm>
            <a:off x="731520" y="1828800"/>
            <a:ext cx="3840480" cy="1874520"/>
          </a:xfrm>
          <a:prstGeom prst="rect">
            <a:avLst/>
          </a:prstGeom>
          <a:noFill/>
          <a:ln/>
        </p:spPr>
        <p:txBody>
          <a:bodyPr wrap="square" lIns="0" tIns="0" rIns="0" bIns="0" rtlCol="0" anchor="t"/>
          <a:lstStyle/>
          <a:p>
            <a:pPr indent="0" marL="0">
              <a:buNone/>
            </a:pPr>
            <a:r>
              <a:rPr lang="en-US" sz="1800" i="1" dirty="0">
                <a:solidFill>
                  <a:schemeClr val="bg1"/>
                </a:solidFill>
                <a:latin typeface="Cambria" pitchFamily="34" charset="0"/>
                <a:ea typeface="Cambria" pitchFamily="34" charset="-122"/>
                <a:cs typeface="Cambria" pitchFamily="34" charset="-120"/>
              </a:rPr>
              <a:t>We want to say that we are getting defilement prosecutions that comply with substantive equality, trauma informed standards, that do not inflict institutional betrayal, as per the 160 Girls High Court decision.</a:t>
            </a:r>
            <a:endParaRPr lang="en-US" sz="1800" dirty="0"/>
          </a:p>
        </p:txBody>
      </p:sp>
      <p:sp>
        <p:nvSpPr>
          <p:cNvPr id="6" name="Text 4"/>
          <p:cNvSpPr txBox="1"/>
          <p:nvPr/>
        </p:nvSpPr>
        <p:spPr>
          <a:xfrm>
            <a:off x="731520" y="3840480"/>
            <a:ext cx="3840480" cy="320040"/>
          </a:xfrm>
          <a:prstGeom prst="rect">
            <a:avLst/>
          </a:prstGeom>
          <a:noFill/>
          <a:ln/>
        </p:spPr>
        <p:txBody>
          <a:bodyPr wrap="square" lIns="0" tIns="0" rIns="0" bIns="0" rtlCol="0" anchor="ctr"/>
          <a:lstStyle/>
          <a:p>
            <a:pPr indent="0" marL="0">
              <a:buNone/>
            </a:pPr>
            <a:r>
              <a:rPr lang="en-US" sz="1400" b="1" dirty="0">
                <a:solidFill>
                  <a:schemeClr val="accent2"/>
                </a:solidFill>
              </a:rPr>
              <a:t>— Fiona</a:t>
            </a:r>
            <a:endParaRPr lang="en-US" sz="1400" dirty="0"/>
          </a:p>
        </p:txBody>
      </p:sp>
      <p:sp>
        <p:nvSpPr>
          <p:cNvPr id="7" name="Text 5"/>
          <p:cNvSpPr txBox="1"/>
          <p:nvPr/>
        </p:nvSpPr>
        <p:spPr>
          <a:xfrm>
            <a:off x="5212080" y="1188720"/>
            <a:ext cx="3474720" cy="502920"/>
          </a:xfrm>
          <a:prstGeom prst="rect">
            <a:avLst/>
          </a:prstGeom>
          <a:noFill/>
          <a:ln/>
        </p:spPr>
        <p:txBody>
          <a:bodyPr wrap="square" lIns="0" tIns="0" rIns="0" bIns="0" rtlCol="0" anchor="t"/>
          <a:lstStyle/>
          <a:p>
            <a:pPr indent="0" marL="0">
              <a:buNone/>
            </a:pPr>
            <a:r>
              <a:rPr lang="en-US" sz="1500" b="1" dirty="0">
                <a:solidFill>
                  <a:schemeClr val="tx1"/>
                </a:solidFill>
              </a:rPr>
              <a:t>3 measures of success for defilement prosecutions</a:t>
            </a:r>
            <a:endParaRPr lang="en-US" sz="1500" dirty="0"/>
          </a:p>
        </p:txBody>
      </p:sp>
      <p:sp>
        <p:nvSpPr>
          <p:cNvPr id="8" name="Measure icon circle 1"/>
          <p:cNvSpPr/>
          <p:nvPr/>
        </p:nvSpPr>
        <p:spPr>
          <a:xfrm>
            <a:off x="5212080" y="1874520"/>
            <a:ext cx="640080" cy="640080"/>
          </a:xfrm>
          <a:prstGeom prst="ellipse">
            <a:avLst/>
          </a:prstGeom>
          <a:solidFill>
            <a:schemeClr val="accent1"/>
          </a:solidFill>
          <a:ln/>
        </p:spPr>
      </p:sp>
      <p:pic>
        <p:nvPicPr>
          <p:cNvPr id="9" name="Measure icon 1" descr="preencoded.png">    </p:cNvPr>
          <p:cNvPicPr>
            <a:picLocks noChangeAspect="1"/>
          </p:cNvPicPr>
          <p:nvPr/>
        </p:nvPicPr>
        <p:blipFill>
          <a:blip r:embed="rId1"/>
          <a:stretch>
            <a:fillRect/>
          </a:stretch>
        </p:blipFill>
        <p:spPr>
          <a:xfrm>
            <a:off x="5367528" y="2029968"/>
            <a:ext cx="329184" cy="329184"/>
          </a:xfrm>
          <a:prstGeom prst="rect">
            <a:avLst/>
          </a:prstGeom>
        </p:spPr>
      </p:pic>
      <p:sp>
        <p:nvSpPr>
          <p:cNvPr id="10" name="Text 7"/>
          <p:cNvSpPr txBox="1"/>
          <p:nvPr/>
        </p:nvSpPr>
        <p:spPr>
          <a:xfrm>
            <a:off x="6035040" y="1874520"/>
            <a:ext cx="2651760" cy="640080"/>
          </a:xfrm>
          <a:prstGeom prst="rect">
            <a:avLst/>
          </a:prstGeom>
          <a:noFill/>
          <a:ln/>
        </p:spPr>
        <p:txBody>
          <a:bodyPr wrap="square" lIns="0" tIns="0" rIns="0" bIns="0" rtlCol="0" anchor="ctr"/>
          <a:lstStyle/>
          <a:p>
            <a:pPr indent="0" marL="0">
              <a:buNone/>
            </a:pPr>
            <a:r>
              <a:rPr lang="en-US" sz="1500" dirty="0">
                <a:solidFill>
                  <a:schemeClr val="tx1"/>
                </a:solidFill>
              </a:rPr>
              <a:t>Complying with substantive equality</a:t>
            </a:r>
            <a:endParaRPr lang="en-US" sz="1500" dirty="0"/>
          </a:p>
        </p:txBody>
      </p:sp>
      <p:sp>
        <p:nvSpPr>
          <p:cNvPr id="11" name="Measure icon circle 2"/>
          <p:cNvSpPr/>
          <p:nvPr/>
        </p:nvSpPr>
        <p:spPr>
          <a:xfrm>
            <a:off x="5212080" y="2743200"/>
            <a:ext cx="640080" cy="640080"/>
          </a:xfrm>
          <a:prstGeom prst="ellipse">
            <a:avLst/>
          </a:prstGeom>
          <a:solidFill>
            <a:schemeClr val="accent1"/>
          </a:solidFill>
          <a:ln/>
        </p:spPr>
      </p:sp>
      <p:pic>
        <p:nvPicPr>
          <p:cNvPr id="12" name="Measure icon 2" descr="preencoded.png">    </p:cNvPr>
          <p:cNvPicPr>
            <a:picLocks noChangeAspect="1"/>
          </p:cNvPicPr>
          <p:nvPr/>
        </p:nvPicPr>
        <p:blipFill>
          <a:blip r:embed="rId2"/>
          <a:stretch>
            <a:fillRect/>
          </a:stretch>
        </p:blipFill>
        <p:spPr>
          <a:xfrm>
            <a:off x="5367528" y="2898648"/>
            <a:ext cx="329184" cy="329184"/>
          </a:xfrm>
          <a:prstGeom prst="rect">
            <a:avLst/>
          </a:prstGeom>
        </p:spPr>
      </p:pic>
      <p:sp>
        <p:nvSpPr>
          <p:cNvPr id="13" name="Text 9"/>
          <p:cNvSpPr txBox="1"/>
          <p:nvPr/>
        </p:nvSpPr>
        <p:spPr>
          <a:xfrm>
            <a:off x="6035040" y="2743200"/>
            <a:ext cx="2651760" cy="640080"/>
          </a:xfrm>
          <a:prstGeom prst="rect">
            <a:avLst/>
          </a:prstGeom>
          <a:noFill/>
          <a:ln/>
        </p:spPr>
        <p:txBody>
          <a:bodyPr wrap="square" lIns="0" tIns="0" rIns="0" bIns="0" rtlCol="0" anchor="ctr"/>
          <a:lstStyle/>
          <a:p>
            <a:pPr indent="0" marL="0">
              <a:buNone/>
            </a:pPr>
            <a:r>
              <a:rPr lang="en-US" sz="1500" dirty="0">
                <a:solidFill>
                  <a:schemeClr val="tx1"/>
                </a:solidFill>
              </a:rPr>
              <a:t>Trauma informed standards</a:t>
            </a:r>
            <a:endParaRPr lang="en-US" sz="1500" dirty="0"/>
          </a:p>
        </p:txBody>
      </p:sp>
      <p:sp>
        <p:nvSpPr>
          <p:cNvPr id="14" name="Measure icon circle 3"/>
          <p:cNvSpPr/>
          <p:nvPr/>
        </p:nvSpPr>
        <p:spPr>
          <a:xfrm>
            <a:off x="5212080" y="3611880"/>
            <a:ext cx="640080" cy="640080"/>
          </a:xfrm>
          <a:prstGeom prst="ellipse">
            <a:avLst/>
          </a:prstGeom>
          <a:solidFill>
            <a:schemeClr val="accent1"/>
          </a:solidFill>
          <a:ln/>
        </p:spPr>
      </p:sp>
      <p:pic>
        <p:nvPicPr>
          <p:cNvPr id="15" name="Measure icon 3" descr="preencoded.png">    </p:cNvPr>
          <p:cNvPicPr>
            <a:picLocks noChangeAspect="1"/>
          </p:cNvPicPr>
          <p:nvPr/>
        </p:nvPicPr>
        <p:blipFill>
          <a:blip r:embed="rId3"/>
          <a:stretch>
            <a:fillRect/>
          </a:stretch>
        </p:blipFill>
        <p:spPr>
          <a:xfrm>
            <a:off x="5367528" y="3767328"/>
            <a:ext cx="329184" cy="329184"/>
          </a:xfrm>
          <a:prstGeom prst="rect">
            <a:avLst/>
          </a:prstGeom>
        </p:spPr>
      </p:pic>
      <p:sp>
        <p:nvSpPr>
          <p:cNvPr id="16" name="Text 11"/>
          <p:cNvSpPr txBox="1"/>
          <p:nvPr/>
        </p:nvSpPr>
        <p:spPr>
          <a:xfrm>
            <a:off x="6035040" y="3611880"/>
            <a:ext cx="2651760" cy="640080"/>
          </a:xfrm>
          <a:prstGeom prst="rect">
            <a:avLst/>
          </a:prstGeom>
          <a:noFill/>
          <a:ln/>
        </p:spPr>
        <p:txBody>
          <a:bodyPr wrap="square" lIns="0" tIns="0" rIns="0" bIns="0" rtlCol="0" anchor="ctr"/>
          <a:lstStyle/>
          <a:p>
            <a:pPr indent="0" marL="0">
              <a:buNone/>
            </a:pPr>
            <a:r>
              <a:rPr lang="en-US" sz="1500" dirty="0">
                <a:solidFill>
                  <a:schemeClr val="tx1"/>
                </a:solidFill>
              </a:rPr>
              <a:t>No infliction of institutional betrayal</a:t>
            </a:r>
            <a:endParaRPr lang="en-US" sz="1500" dirty="0"/>
          </a:p>
        </p:txBody>
      </p:sp>
      <p:sp>
        <p:nvSpPr>
          <p:cNvPr id="25" name="Slide Number Placeholder 0"/>
          <p:cNvSpPr>
            <a:spLocks noGrp="1"/>
          </p:cNvSpPr>
          <p:nvPr>
            <p:ph type="sldNum" sz="quarter" idx="4294967295"/>
          </p:nvPr>
        </p:nvSpPr>
        <p:spPr>
          <a:xfrm>
            <a:off x="772668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Complying with Substantive Equality</a:t>
            </a:r>
            <a:endParaRPr lang="en-US" sz="2800" dirty="0"/>
          </a:p>
        </p:txBody>
      </p:sp>
      <p:sp>
        <p:nvSpPr>
          <p:cNvPr id="3" name="Definition card"/>
          <p:cNvSpPr/>
          <p:nvPr/>
        </p:nvSpPr>
        <p:spPr>
          <a:xfrm>
            <a:off x="457200" y="1188720"/>
            <a:ext cx="3291840" cy="3200400"/>
          </a:xfrm>
          <a:prstGeom prst="roundRect">
            <a:avLst>
              <a:gd name="adj" fmla="val 3429"/>
            </a:avLst>
          </a:prstGeom>
          <a:solidFill>
            <a:schemeClr val="bg2"/>
          </a:solidFill>
          <a:ln/>
        </p:spPr>
      </p:sp>
      <p:sp>
        <p:nvSpPr>
          <p:cNvPr id="4" name="Measure icon circle"/>
          <p:cNvSpPr/>
          <p:nvPr/>
        </p:nvSpPr>
        <p:spPr>
          <a:xfrm>
            <a:off x="731520" y="1463040"/>
            <a:ext cx="640080" cy="640080"/>
          </a:xfrm>
          <a:prstGeom prst="ellipse">
            <a:avLst/>
          </a:prstGeom>
          <a:solidFill>
            <a:schemeClr val="accent1"/>
          </a:solidFill>
          <a:ln/>
        </p:spPr>
      </p:sp>
      <p:pic>
        <p:nvPicPr>
          <p:cNvPr id="5" name="Measure icon" descr="preencoded.png">    </p:cNvPr>
          <p:cNvPicPr>
            <a:picLocks noChangeAspect="1"/>
          </p:cNvPicPr>
          <p:nvPr/>
        </p:nvPicPr>
        <p:blipFill>
          <a:blip r:embed="rId1"/>
          <a:stretch>
            <a:fillRect/>
          </a:stretch>
        </p:blipFill>
        <p:spPr>
          <a:xfrm>
            <a:off x="886968" y="1618488"/>
            <a:ext cx="329184" cy="329184"/>
          </a:xfrm>
          <a:prstGeom prst="rect">
            <a:avLst/>
          </a:prstGeom>
        </p:spPr>
      </p:pic>
      <p:sp>
        <p:nvSpPr>
          <p:cNvPr id="6" name="Text 3"/>
          <p:cNvSpPr txBox="1"/>
          <p:nvPr/>
        </p:nvSpPr>
        <p:spPr>
          <a:xfrm>
            <a:off x="1508760" y="1463040"/>
            <a:ext cx="2011680" cy="640080"/>
          </a:xfrm>
          <a:prstGeom prst="rect">
            <a:avLst/>
          </a:prstGeom>
          <a:noFill/>
          <a:ln/>
        </p:spPr>
        <p:txBody>
          <a:bodyPr wrap="square" lIns="0" tIns="0" rIns="0" bIns="0" rtlCol="0" anchor="ctr"/>
          <a:lstStyle/>
          <a:p>
            <a:pPr indent="0" marL="0">
              <a:buNone/>
            </a:pPr>
            <a:r>
              <a:rPr lang="en-US" sz="1100" b="1" spc="200" kern="0" dirty="0">
                <a:solidFill>
                  <a:schemeClr val="accent1"/>
                </a:solidFill>
              </a:rPr>
              <a:t>MEASURE 1 OF 3</a:t>
            </a:r>
            <a:endParaRPr lang="en-US" sz="1100" dirty="0"/>
          </a:p>
        </p:txBody>
      </p:sp>
      <p:sp>
        <p:nvSpPr>
          <p:cNvPr id="7" name="Text 4"/>
          <p:cNvSpPr txBox="1"/>
          <p:nvPr/>
        </p:nvSpPr>
        <p:spPr>
          <a:xfrm>
            <a:off x="731520" y="2286000"/>
            <a:ext cx="2743200" cy="320040"/>
          </a:xfrm>
          <a:prstGeom prst="rect">
            <a:avLst/>
          </a:prstGeom>
          <a:noFill/>
          <a:ln/>
        </p:spPr>
        <p:txBody>
          <a:bodyPr wrap="square" lIns="0" tIns="0" rIns="0" bIns="0" rtlCol="0" anchor="ctr"/>
          <a:lstStyle/>
          <a:p>
            <a:pPr indent="0" marL="0">
              <a:buNone/>
            </a:pPr>
            <a:r>
              <a:rPr lang="en-US" sz="1500" b="1" dirty="0">
                <a:solidFill>
                  <a:schemeClr val="tx2"/>
                </a:solidFill>
              </a:rPr>
              <a:t>What this means</a:t>
            </a:r>
            <a:endParaRPr lang="en-US" sz="1500" dirty="0"/>
          </a:p>
        </p:txBody>
      </p:sp>
      <p:sp>
        <p:nvSpPr>
          <p:cNvPr id="8" name="Text 5"/>
          <p:cNvSpPr txBox="1"/>
          <p:nvPr/>
        </p:nvSpPr>
        <p:spPr>
          <a:xfrm>
            <a:off x="731520" y="2651760"/>
            <a:ext cx="2743200" cy="1600200"/>
          </a:xfrm>
          <a:prstGeom prst="rect">
            <a:avLst/>
          </a:prstGeom>
          <a:noFill/>
          <a:ln/>
        </p:spPr>
        <p:txBody>
          <a:bodyPr wrap="square" lIns="0" tIns="0" rIns="0" bIns="0" rtlCol="0" anchor="t"/>
          <a:lstStyle/>
          <a:p>
            <a:pPr indent="0" marL="0">
              <a:buNone/>
            </a:pPr>
            <a:r>
              <a:rPr lang="en-US" sz="1400" dirty="0">
                <a:solidFill>
                  <a:schemeClr val="tx1"/>
                </a:solidFill>
              </a:rPr>
              <a:t>Treating people fairly by recognising that different people may face different barriers, disadvantages or circumstances — and taking those differences into account to achieve genuinely equal opportunities and outcomes.</a:t>
            </a:r>
            <a:endParaRPr lang="en-US" sz="1400" dirty="0"/>
          </a:p>
        </p:txBody>
      </p:sp>
      <p:graphicFrame>
        <p:nvGraphicFramePr>
          <p:cNvPr id="5" name="Inputs worksheet"/>
          <p:cNvGraphicFramePr>
            <a:graphicFrameLocks noGrp="1"/>
          </p:cNvGraphicFramePr>
          <p:nvPr>
            <p:extLst>
              <p:ext uri="{D42A27DB-BD31-4B8C-83A1-F6EECF244321}">
                <p14:modId xmlns:p14="http://schemas.microsoft.com/office/powerpoint/2010/main" val="1579011935"/>
              </p:ext>
            </p:extLst>
          </p:nvPr>
        </p:nvGraphicFramePr>
        <p:xfrm>
          <a:off x="4023360" y="1188720"/>
          <a:ext cx="4663440" cy="914400"/>
        </p:xfrm>
        <a:graphic>
          <a:graphicData uri="http://schemas.openxmlformats.org/drawingml/2006/table">
            <a:tbl>
              <a:tblPr/>
              <a:tblGrid>
                <a:gridCol w="457200"/>
                <a:gridCol w="4206240"/>
              </a:tblGrid>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8B1E2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From the Defilement Investigation Checklist, what potential inputs could we extract?</a:t>
                      </a:r>
                      <a:endParaRPr lang="en-US" sz="13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8B1E2D"/>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772668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Trauma Informed Standards</a:t>
            </a:r>
            <a:endParaRPr lang="en-US" sz="2800" dirty="0"/>
          </a:p>
        </p:txBody>
      </p:sp>
      <p:sp>
        <p:nvSpPr>
          <p:cNvPr id="3" name="Definition card"/>
          <p:cNvSpPr/>
          <p:nvPr/>
        </p:nvSpPr>
        <p:spPr>
          <a:xfrm>
            <a:off x="457200" y="1188720"/>
            <a:ext cx="3291840" cy="3200400"/>
          </a:xfrm>
          <a:prstGeom prst="roundRect">
            <a:avLst>
              <a:gd name="adj" fmla="val 3429"/>
            </a:avLst>
          </a:prstGeom>
          <a:solidFill>
            <a:schemeClr val="bg2"/>
          </a:solidFill>
          <a:ln/>
        </p:spPr>
      </p:sp>
      <p:sp>
        <p:nvSpPr>
          <p:cNvPr id="4" name="Measure icon circle"/>
          <p:cNvSpPr/>
          <p:nvPr/>
        </p:nvSpPr>
        <p:spPr>
          <a:xfrm>
            <a:off x="731520" y="1463040"/>
            <a:ext cx="640080" cy="640080"/>
          </a:xfrm>
          <a:prstGeom prst="ellipse">
            <a:avLst/>
          </a:prstGeom>
          <a:solidFill>
            <a:schemeClr val="accent1"/>
          </a:solidFill>
          <a:ln/>
        </p:spPr>
      </p:sp>
      <p:pic>
        <p:nvPicPr>
          <p:cNvPr id="5" name="Measure icon" descr="preencoded.png">    </p:cNvPr>
          <p:cNvPicPr>
            <a:picLocks noChangeAspect="1"/>
          </p:cNvPicPr>
          <p:nvPr/>
        </p:nvPicPr>
        <p:blipFill>
          <a:blip r:embed="rId1"/>
          <a:stretch>
            <a:fillRect/>
          </a:stretch>
        </p:blipFill>
        <p:spPr>
          <a:xfrm>
            <a:off x="886968" y="1618488"/>
            <a:ext cx="329184" cy="329184"/>
          </a:xfrm>
          <a:prstGeom prst="rect">
            <a:avLst/>
          </a:prstGeom>
        </p:spPr>
      </p:pic>
      <p:sp>
        <p:nvSpPr>
          <p:cNvPr id="6" name="Text 3"/>
          <p:cNvSpPr txBox="1"/>
          <p:nvPr/>
        </p:nvSpPr>
        <p:spPr>
          <a:xfrm>
            <a:off x="1508760" y="1463040"/>
            <a:ext cx="2011680" cy="640080"/>
          </a:xfrm>
          <a:prstGeom prst="rect">
            <a:avLst/>
          </a:prstGeom>
          <a:noFill/>
          <a:ln/>
        </p:spPr>
        <p:txBody>
          <a:bodyPr wrap="square" lIns="0" tIns="0" rIns="0" bIns="0" rtlCol="0" anchor="ctr"/>
          <a:lstStyle/>
          <a:p>
            <a:pPr indent="0" marL="0">
              <a:buNone/>
            </a:pPr>
            <a:r>
              <a:rPr lang="en-US" sz="1100" b="1" spc="200" kern="0" dirty="0">
                <a:solidFill>
                  <a:schemeClr val="accent1"/>
                </a:solidFill>
              </a:rPr>
              <a:t>MEASURE 2 OF 3</a:t>
            </a:r>
            <a:endParaRPr lang="en-US" sz="1100" dirty="0"/>
          </a:p>
        </p:txBody>
      </p:sp>
      <p:sp>
        <p:nvSpPr>
          <p:cNvPr id="7" name="Text 4"/>
          <p:cNvSpPr txBox="1"/>
          <p:nvPr/>
        </p:nvSpPr>
        <p:spPr>
          <a:xfrm>
            <a:off x="731520" y="2286000"/>
            <a:ext cx="2743200" cy="320040"/>
          </a:xfrm>
          <a:prstGeom prst="rect">
            <a:avLst/>
          </a:prstGeom>
          <a:noFill/>
          <a:ln/>
        </p:spPr>
        <p:txBody>
          <a:bodyPr wrap="square" lIns="0" tIns="0" rIns="0" bIns="0" rtlCol="0" anchor="ctr"/>
          <a:lstStyle/>
          <a:p>
            <a:pPr indent="0" marL="0">
              <a:buNone/>
            </a:pPr>
            <a:r>
              <a:rPr lang="en-US" sz="1500" b="1" dirty="0">
                <a:solidFill>
                  <a:schemeClr val="tx2"/>
                </a:solidFill>
              </a:rPr>
              <a:t>What this means</a:t>
            </a:r>
            <a:endParaRPr lang="en-US" sz="1500" dirty="0"/>
          </a:p>
        </p:txBody>
      </p:sp>
      <p:sp>
        <p:nvSpPr>
          <p:cNvPr id="8" name="Text 5"/>
          <p:cNvSpPr txBox="1"/>
          <p:nvPr/>
        </p:nvSpPr>
        <p:spPr>
          <a:xfrm>
            <a:off x="731520" y="2651760"/>
            <a:ext cx="2743200" cy="1600200"/>
          </a:xfrm>
          <a:prstGeom prst="rect">
            <a:avLst/>
          </a:prstGeom>
          <a:noFill/>
          <a:ln/>
        </p:spPr>
        <p:txBody>
          <a:bodyPr wrap="square" lIns="0" tIns="0" rIns="0" bIns="0" rtlCol="0" anchor="t"/>
          <a:lstStyle/>
          <a:p>
            <a:pPr indent="0" marL="0">
              <a:buNone/>
            </a:pPr>
            <a:r>
              <a:rPr lang="en-US" sz="1400" dirty="0">
                <a:solidFill>
                  <a:schemeClr val="tx1"/>
                </a:solidFill>
              </a:rPr>
              <a:t>Understanding that a person’s behaviour, reactions or needs may be influenced by past experiences, and responding with safety, respect and compassion rather than judgement.</a:t>
            </a:r>
            <a:endParaRPr lang="en-US" sz="1400" dirty="0"/>
          </a:p>
        </p:txBody>
      </p:sp>
      <p:graphicFrame>
        <p:nvGraphicFramePr>
          <p:cNvPr id="6" name="Inputs worksheet"/>
          <p:cNvGraphicFramePr>
            <a:graphicFrameLocks noGrp="1"/>
          </p:cNvGraphicFramePr>
          <p:nvPr>
            <p:extLst>
              <p:ext uri="{D42A27DB-BD31-4B8C-83A1-F6EECF244321}">
                <p14:modId xmlns:p14="http://schemas.microsoft.com/office/powerpoint/2010/main" val="1579011935"/>
              </p:ext>
            </p:extLst>
          </p:nvPr>
        </p:nvGraphicFramePr>
        <p:xfrm>
          <a:off x="4023360" y="1188720"/>
          <a:ext cx="4663440" cy="914400"/>
        </p:xfrm>
        <a:graphic>
          <a:graphicData uri="http://schemas.openxmlformats.org/drawingml/2006/table">
            <a:tbl>
              <a:tblPr/>
              <a:tblGrid>
                <a:gridCol w="457200"/>
                <a:gridCol w="4206240"/>
              </a:tblGrid>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8B1E2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From the Defilement Investigation Checklist, what potential inputs could we extract?</a:t>
                      </a:r>
                      <a:endParaRPr lang="en-US" sz="13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8B1E2D"/>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772668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No Infliction of Institutional Betrayal</a:t>
            </a:r>
            <a:endParaRPr lang="en-US" sz="2800" dirty="0"/>
          </a:p>
        </p:txBody>
      </p:sp>
      <p:sp>
        <p:nvSpPr>
          <p:cNvPr id="3" name="Definition card"/>
          <p:cNvSpPr/>
          <p:nvPr/>
        </p:nvSpPr>
        <p:spPr>
          <a:xfrm>
            <a:off x="457200" y="1188720"/>
            <a:ext cx="3291840" cy="3200400"/>
          </a:xfrm>
          <a:prstGeom prst="roundRect">
            <a:avLst>
              <a:gd name="adj" fmla="val 3429"/>
            </a:avLst>
          </a:prstGeom>
          <a:solidFill>
            <a:schemeClr val="bg2"/>
          </a:solidFill>
          <a:ln/>
        </p:spPr>
      </p:sp>
      <p:sp>
        <p:nvSpPr>
          <p:cNvPr id="4" name="Measure icon circle"/>
          <p:cNvSpPr/>
          <p:nvPr/>
        </p:nvSpPr>
        <p:spPr>
          <a:xfrm>
            <a:off x="731520" y="1463040"/>
            <a:ext cx="640080" cy="640080"/>
          </a:xfrm>
          <a:prstGeom prst="ellipse">
            <a:avLst/>
          </a:prstGeom>
          <a:solidFill>
            <a:schemeClr val="accent1"/>
          </a:solidFill>
          <a:ln/>
        </p:spPr>
      </p:sp>
      <p:pic>
        <p:nvPicPr>
          <p:cNvPr id="5" name="Measure icon" descr="preencoded.png">    </p:cNvPr>
          <p:cNvPicPr>
            <a:picLocks noChangeAspect="1"/>
          </p:cNvPicPr>
          <p:nvPr/>
        </p:nvPicPr>
        <p:blipFill>
          <a:blip r:embed="rId1"/>
          <a:stretch>
            <a:fillRect/>
          </a:stretch>
        </p:blipFill>
        <p:spPr>
          <a:xfrm>
            <a:off x="886968" y="1618488"/>
            <a:ext cx="329184" cy="329184"/>
          </a:xfrm>
          <a:prstGeom prst="rect">
            <a:avLst/>
          </a:prstGeom>
        </p:spPr>
      </p:pic>
      <p:sp>
        <p:nvSpPr>
          <p:cNvPr id="6" name="Text 3"/>
          <p:cNvSpPr txBox="1"/>
          <p:nvPr/>
        </p:nvSpPr>
        <p:spPr>
          <a:xfrm>
            <a:off x="1508760" y="1463040"/>
            <a:ext cx="2011680" cy="640080"/>
          </a:xfrm>
          <a:prstGeom prst="rect">
            <a:avLst/>
          </a:prstGeom>
          <a:noFill/>
          <a:ln/>
        </p:spPr>
        <p:txBody>
          <a:bodyPr wrap="square" lIns="0" tIns="0" rIns="0" bIns="0" rtlCol="0" anchor="ctr"/>
          <a:lstStyle/>
          <a:p>
            <a:pPr indent="0" marL="0">
              <a:buNone/>
            </a:pPr>
            <a:r>
              <a:rPr lang="en-US" sz="1100" b="1" spc="200" kern="0" dirty="0">
                <a:solidFill>
                  <a:schemeClr val="accent1"/>
                </a:solidFill>
              </a:rPr>
              <a:t>MEASURE 3 OF 3</a:t>
            </a:r>
            <a:endParaRPr lang="en-US" sz="1100" dirty="0"/>
          </a:p>
        </p:txBody>
      </p:sp>
      <p:sp>
        <p:nvSpPr>
          <p:cNvPr id="7" name="Text 4"/>
          <p:cNvSpPr txBox="1"/>
          <p:nvPr/>
        </p:nvSpPr>
        <p:spPr>
          <a:xfrm>
            <a:off x="731520" y="2286000"/>
            <a:ext cx="2743200" cy="320040"/>
          </a:xfrm>
          <a:prstGeom prst="rect">
            <a:avLst/>
          </a:prstGeom>
          <a:noFill/>
          <a:ln/>
        </p:spPr>
        <p:txBody>
          <a:bodyPr wrap="square" lIns="0" tIns="0" rIns="0" bIns="0" rtlCol="0" anchor="ctr"/>
          <a:lstStyle/>
          <a:p>
            <a:pPr indent="0" marL="0">
              <a:buNone/>
            </a:pPr>
            <a:r>
              <a:rPr lang="en-US" sz="1500" b="1" dirty="0">
                <a:solidFill>
                  <a:schemeClr val="tx2"/>
                </a:solidFill>
              </a:rPr>
              <a:t>What this means</a:t>
            </a:r>
            <a:endParaRPr lang="en-US" sz="1500" dirty="0"/>
          </a:p>
        </p:txBody>
      </p:sp>
      <p:sp>
        <p:nvSpPr>
          <p:cNvPr id="8" name="Text 5"/>
          <p:cNvSpPr txBox="1"/>
          <p:nvPr/>
        </p:nvSpPr>
        <p:spPr>
          <a:xfrm>
            <a:off x="731520" y="2651760"/>
            <a:ext cx="2743200" cy="1600200"/>
          </a:xfrm>
          <a:prstGeom prst="rect">
            <a:avLst/>
          </a:prstGeom>
          <a:noFill/>
          <a:ln/>
        </p:spPr>
        <p:txBody>
          <a:bodyPr wrap="square" lIns="0" tIns="0" rIns="0" bIns="0" rtlCol="0" anchor="t"/>
          <a:lstStyle/>
          <a:p>
            <a:pPr indent="0" marL="0">
              <a:buNone/>
            </a:pPr>
            <a:r>
              <a:rPr lang="en-US" sz="1400" dirty="0">
                <a:solidFill>
                  <a:schemeClr val="tx1"/>
                </a:solidFill>
              </a:rPr>
              <a:t>Prosecutors must not act in ways that betray the trust of people who depend on them for protection, support, fairness or accountability.</a:t>
            </a:r>
            <a:endParaRPr lang="en-US" sz="1400" dirty="0"/>
          </a:p>
        </p:txBody>
      </p:sp>
      <p:graphicFrame>
        <p:nvGraphicFramePr>
          <p:cNvPr id="7" name="Inputs worksheet"/>
          <p:cNvGraphicFramePr>
            <a:graphicFrameLocks noGrp="1"/>
          </p:cNvGraphicFramePr>
          <p:nvPr>
            <p:extLst>
              <p:ext uri="{D42A27DB-BD31-4B8C-83A1-F6EECF244321}">
                <p14:modId xmlns:p14="http://schemas.microsoft.com/office/powerpoint/2010/main" val="1579011935"/>
              </p:ext>
            </p:extLst>
          </p:nvPr>
        </p:nvGraphicFramePr>
        <p:xfrm>
          <a:off x="4023360" y="1188720"/>
          <a:ext cx="4663440" cy="914400"/>
        </p:xfrm>
        <a:graphic>
          <a:graphicData uri="http://schemas.openxmlformats.org/drawingml/2006/table">
            <a:tbl>
              <a:tblPr/>
              <a:tblGrid>
                <a:gridCol w="457200"/>
                <a:gridCol w="4206240"/>
              </a:tblGrid>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8B1E2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From the Defilement Investigation Checklist, what potential inputs could we extract?</a:t>
                      </a:r>
                      <a:endParaRPr lang="en-US" sz="13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8B1E2D"/>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7EFF0"/>
                    </a:solidFill>
                  </a:tcPr>
                </a:tc>
              </a:tr>
              <a:tr h="329184">
                <a:tc>
                  <a:txBody>
                    <a:bodyPr/>
                    <a:lstStyle/>
                    <a:p>
                      <a:pPr algn="ctr" indent="0" marL="0">
                        <a:buNone/>
                      </a:pPr>
                      <a:r>
                        <a:rPr lang="en-US" sz="1200" b="1" dirty="0">
                          <a:solidFill>
                            <a:srgbClr val="8B1E2D"/>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0" marB="0" anchor="ctr">
                    <a:lnL w="6350" cap="flat" cmpd="sng" algn="ctr">
                      <a:solidFill>
                        <a:srgbClr val="E9D7DA"/>
                      </a:solidFill>
                      <a:prstDash val="solid"/>
                      <a:round/>
                      <a:headEnd type="none" w="med" len="med"/>
                      <a:tailEnd type="none" w="med" len="med"/>
                    </a:lnL>
                    <a:lnR w="6350" cap="flat" cmpd="sng" algn="ctr">
                      <a:solidFill>
                        <a:srgbClr val="E9D7DA"/>
                      </a:solidFill>
                      <a:prstDash val="solid"/>
                      <a:round/>
                      <a:headEnd type="none" w="med" len="med"/>
                      <a:tailEnd type="none" w="med" len="med"/>
                    </a:lnR>
                    <a:lnT w="6350" cap="flat" cmpd="sng" algn="ctr">
                      <a:solidFill>
                        <a:srgbClr val="E9D7DA"/>
                      </a:solidFill>
                      <a:prstDash val="solid"/>
                      <a:round/>
                      <a:headEnd type="none" w="med" len="med"/>
                      <a:tailEnd type="none" w="med" len="med"/>
                    </a:lnT>
                    <a:lnB w="6350" cap="flat" cmpd="sng" algn="ctr">
                      <a:solidFill>
                        <a:srgbClr val="E9D7D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7726680" y="468172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Equality Effect">
  <a:themeElements>
    <a:clrScheme name="Equality Effect">
      <a:dk1>
        <a:srgbClr val="2B2326"/>
      </a:dk1>
      <a:lt1>
        <a:srgbClr val="FFFFFF"/>
      </a:lt1>
      <a:dk2>
        <a:srgbClr val="4A1019"/>
      </a:dk2>
      <a:lt2>
        <a:srgbClr val="F7EFF0"/>
      </a:lt2>
      <a:accent1>
        <a:srgbClr val="8B1E2D"/>
      </a:accent1>
      <a:accent2>
        <a:srgbClr val="C9A26B"/>
      </a:accent2>
      <a:accent3>
        <a:srgbClr val="6E6266"/>
      </a:accent3>
      <a:accent4>
        <a:srgbClr val="E9D7DA"/>
      </a:accent4>
      <a:accent5>
        <a:srgbClr val="3E7C74"/>
      </a:accent5>
      <a:accent6>
        <a:srgbClr val="A65E6B"/>
      </a:accent6>
      <a:hlink>
        <a:srgbClr val="8B1E2D"/>
      </a:hlink>
      <a:folHlink>
        <a:srgbClr val="6E6266"/>
      </a:folHlink>
    </a:clrScheme>
    <a:fontScheme name="Equality Effec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for Prosecution Quantitative Results</dc:title>
  <dc:subject>PptxGenJS Presentation</dc:subject>
  <dc:creator>the equality effect</dc:creator>
  <cp:lastModifiedBy>the equality effect</cp:lastModifiedBy>
  <cp:revision>1</cp:revision>
  <dcterms:created xsi:type="dcterms:W3CDTF">2026-10-09T23:01:37Z</dcterms:created>
  <dcterms:modified xsi:type="dcterms:W3CDTF">2026-10-09T23:01:37Z</dcterms:modified>
</cp:coreProperties>
</file>